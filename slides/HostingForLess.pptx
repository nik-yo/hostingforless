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1" r:id="rId1"/>
  </p:sldMasterIdLst>
  <p:sldIdLst>
    <p:sldId id="256" r:id="rId2"/>
    <p:sldId id="257" r:id="rId3"/>
    <p:sldId id="268" r:id="rId4"/>
    <p:sldId id="258" r:id="rId5"/>
    <p:sldId id="259" r:id="rId6"/>
    <p:sldId id="260" r:id="rId7"/>
    <p:sldId id="272" r:id="rId8"/>
    <p:sldId id="265" r:id="rId9"/>
    <p:sldId id="269" r:id="rId10"/>
    <p:sldId id="262" r:id="rId11"/>
    <p:sldId id="264" r:id="rId12"/>
    <p:sldId id="273" r:id="rId13"/>
    <p:sldId id="270" r:id="rId14"/>
    <p:sldId id="261" r:id="rId15"/>
    <p:sldId id="266" r:id="rId16"/>
    <p:sldId id="274" r:id="rId17"/>
    <p:sldId id="267" r:id="rId18"/>
    <p:sldId id="271" r:id="rId19"/>
    <p:sldId id="263" r:id="rId2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94" autoAdjust="0"/>
    <p:restoredTop sz="94660"/>
  </p:normalViewPr>
  <p:slideViewPr>
    <p:cSldViewPr snapToGrid="0">
      <p:cViewPr varScale="1">
        <p:scale>
          <a:sx n="81" d="100"/>
          <a:sy n="81" d="100"/>
        </p:scale>
        <p:origin x="43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1771A-2A40-4266-B4C2-1497629EFEBC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7B0BDC63-8CE0-4590-BB9E-7A79CD3AF300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55375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1771A-2A40-4266-B4C2-1497629EFEBC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BDC63-8CE0-4590-BB9E-7A79CD3AF300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120004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1771A-2A40-4266-B4C2-1497629EFEBC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BDC63-8CE0-4590-BB9E-7A79CD3AF300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935080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1771A-2A40-4266-B4C2-1497629EFEBC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BDC63-8CE0-4590-BB9E-7A79CD3AF300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638274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1771A-2A40-4266-B4C2-1497629EFEBC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BDC63-8CE0-4590-BB9E-7A79CD3AF300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124157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1771A-2A40-4266-B4C2-1497629EFEBC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BDC63-8CE0-4590-BB9E-7A79CD3AF300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97964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1771A-2A40-4266-B4C2-1497629EFEBC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BDC63-8CE0-4590-BB9E-7A79CD3AF30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19733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1771A-2A40-4266-B4C2-1497629EFEBC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BDC63-8CE0-4590-BB9E-7A79CD3AF300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72567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EEE1771A-2A40-4266-B4C2-1497629EFEBC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BDC63-8CE0-4590-BB9E-7A79CD3AF300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093848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1771A-2A40-4266-B4C2-1497629EFEBC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BDC63-8CE0-4590-BB9E-7A79CD3AF300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20016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EE1771A-2A40-4266-B4C2-1497629EFEBC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0BDC63-8CE0-4590-BB9E-7A79CD3AF300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5578843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EE1771A-2A40-4266-B4C2-1497629EFEBC}" type="datetimeFigureOut">
              <a:rPr lang="en-US" smtClean="0"/>
              <a:t>11/10/2025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7B0BDC63-8CE0-4590-BB9E-7A79CD3AF300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13232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  <p:sldLayoutId id="2147483734" r:id="rId3"/>
    <p:sldLayoutId id="2147483735" r:id="rId4"/>
    <p:sldLayoutId id="2147483736" r:id="rId5"/>
    <p:sldLayoutId id="2147483737" r:id="rId6"/>
    <p:sldLayoutId id="2147483738" r:id="rId7"/>
    <p:sldLayoutId id="2147483739" r:id="rId8"/>
    <p:sldLayoutId id="2147483740" r:id="rId9"/>
    <p:sldLayoutId id="2147483741" r:id="rId10"/>
    <p:sldLayoutId id="2147483742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4DCE4C-E398-B64F-37A1-19DB644CC85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Hosting for Less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C43087-0A9A-0845-6E64-6FE013A00D0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An Introduction to Cloud</a:t>
            </a:r>
          </a:p>
        </p:txBody>
      </p:sp>
    </p:spTree>
    <p:extLst>
      <p:ext uri="{BB962C8B-B14F-4D97-AF65-F5344CB8AC3E}">
        <p14:creationId xmlns:p14="http://schemas.microsoft.com/office/powerpoint/2010/main" val="5068561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B77C6-ABA4-D847-B1D3-D4DC4C6D1B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Experience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84A4A6-F22F-8A79-4CB0-97964A8EB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Programmer (Web + Desktop app)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Web Developer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Software Engineer (Web + Mobile app)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Cloud and DevOps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Certifications:</a:t>
            </a:r>
          </a:p>
          <a:p>
            <a:pPr lvl="1"/>
            <a:r>
              <a:rPr lang="en-US" dirty="0"/>
              <a:t>AWS</a:t>
            </a:r>
          </a:p>
          <a:p>
            <a:pPr lvl="1"/>
            <a:r>
              <a:rPr lang="en-US" dirty="0"/>
              <a:t>Microsoft</a:t>
            </a:r>
          </a:p>
          <a:p>
            <a:pPr lvl="1"/>
            <a:r>
              <a:rPr lang="en-US" dirty="0"/>
              <a:t>GCP, FinOps, OCI, </a:t>
            </a:r>
            <a:r>
              <a:rPr lang="en-US" dirty="0" err="1"/>
              <a:t>etc</a:t>
            </a:r>
            <a:endParaRPr lang="en-US" dirty="0"/>
          </a:p>
          <a:p>
            <a:pPr marL="514350" indent="-51435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82486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B6555B-B692-E767-98C9-2119EC317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Cloud?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3941EA-66DB-1870-55A2-41C91C0BC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Storage and more</a:t>
            </a:r>
          </a:p>
          <a:p>
            <a:r>
              <a:rPr lang="en-US" dirty="0"/>
              <a:t>Datacenter as a service</a:t>
            </a:r>
          </a:p>
          <a:p>
            <a:r>
              <a:rPr lang="en-US" dirty="0"/>
              <a:t>Services:</a:t>
            </a:r>
          </a:p>
          <a:p>
            <a:pPr lvl="1"/>
            <a:r>
              <a:rPr lang="en-US" dirty="0"/>
              <a:t>Load balancer</a:t>
            </a:r>
          </a:p>
          <a:p>
            <a:pPr lvl="1"/>
            <a:r>
              <a:rPr lang="en-US" dirty="0"/>
              <a:t>Virtual machine</a:t>
            </a:r>
          </a:p>
          <a:p>
            <a:pPr lvl="1"/>
            <a:r>
              <a:rPr lang="en-US" dirty="0"/>
              <a:t>Kubernetes cluster</a:t>
            </a:r>
          </a:p>
          <a:p>
            <a:pPr lvl="1"/>
            <a:r>
              <a:rPr lang="en-US" dirty="0"/>
              <a:t>Database, Messaging broker,  AI, </a:t>
            </a:r>
            <a:r>
              <a:rPr lang="en-US" dirty="0" err="1"/>
              <a:t>etc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45626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DA06F-A5F4-0876-443D-E344A042C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 SO LONG TIME AGO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44092B-0E7A-45EA-367E-9229BA84A5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$12/month traditional hosting</a:t>
            </a:r>
          </a:p>
          <a:p>
            <a:r>
              <a:rPr lang="en-US" dirty="0"/>
              <a:t>ASP.NET Web Forms (20+ years old tech)</a:t>
            </a:r>
          </a:p>
        </p:txBody>
      </p:sp>
    </p:spTree>
    <p:extLst>
      <p:ext uri="{BB962C8B-B14F-4D97-AF65-F5344CB8AC3E}">
        <p14:creationId xmlns:p14="http://schemas.microsoft.com/office/powerpoint/2010/main" val="25224475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368BE-DB51-4B71-28FE-F651F2F08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658B13-1937-CE3B-BF39-4E6EBBD8F3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Low-cost hosting</a:t>
            </a:r>
          </a:p>
          <a:p>
            <a:r>
              <a:rPr lang="en-US" dirty="0"/>
              <a:t>Modern</a:t>
            </a:r>
          </a:p>
          <a:p>
            <a:r>
              <a:rPr lang="en-US" dirty="0"/>
              <a:t>Easy to maintain</a:t>
            </a:r>
          </a:p>
        </p:txBody>
      </p:sp>
    </p:spTree>
    <p:extLst>
      <p:ext uri="{BB962C8B-B14F-4D97-AF65-F5344CB8AC3E}">
        <p14:creationId xmlns:p14="http://schemas.microsoft.com/office/powerpoint/2010/main" val="6325258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5563A-7F48-6380-D50B-EB2E5AF849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TODAY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F89A4-03B4-81F1-0FB3-EE9686ED0E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Hosting Cost: less than $1/month</a:t>
            </a:r>
          </a:p>
          <a:p>
            <a:r>
              <a:rPr lang="en-US" dirty="0"/>
              <a:t>Cloud + SPA (Single Page Application)</a:t>
            </a:r>
          </a:p>
          <a:p>
            <a:pPr lvl="1"/>
            <a:r>
              <a:rPr lang="en-US" dirty="0"/>
              <a:t>AWS + Next.JS (based on React JS)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492521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F9D96-F8B2-1291-0328-101CC22E25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MONTHLY PRICING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6565A5E-A796-B408-55C4-131DAE339C1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1133887"/>
              </p:ext>
            </p:extLst>
          </p:nvPr>
        </p:nvGraphicFramePr>
        <p:xfrm>
          <a:off x="1451579" y="2015732"/>
          <a:ext cx="9257585" cy="2667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4069">
                  <a:extLst>
                    <a:ext uri="{9D8B030D-6E8A-4147-A177-3AD203B41FA5}">
                      <a16:colId xmlns:a16="http://schemas.microsoft.com/office/drawing/2014/main" val="427775255"/>
                    </a:ext>
                  </a:extLst>
                </a:gridCol>
                <a:gridCol w="1783666">
                  <a:extLst>
                    <a:ext uri="{9D8B030D-6E8A-4147-A177-3AD203B41FA5}">
                      <a16:colId xmlns:a16="http://schemas.microsoft.com/office/drawing/2014/main" val="413084540"/>
                    </a:ext>
                  </a:extLst>
                </a:gridCol>
                <a:gridCol w="5409850">
                  <a:extLst>
                    <a:ext uri="{9D8B030D-6E8A-4147-A177-3AD203B41FA5}">
                      <a16:colId xmlns:a16="http://schemas.microsoft.com/office/drawing/2014/main" val="227350492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Service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Pricing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669134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$0.023/GB storage</a:t>
                      </a:r>
                    </a:p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$0.09/GB data out</a:t>
                      </a:r>
                    </a:p>
                    <a:p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$0.0004 per 1000 GET requests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72829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CDN (Gate)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CloudFront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1TB data out free ($0.085/GB after)</a:t>
                      </a:r>
                      <a:br>
                        <a:rPr lang="en-US" dirty="0"/>
                      </a:br>
                      <a:r>
                        <a:rPr lang="en-US" dirty="0"/>
                        <a:t>10 million requests free (</a:t>
                      </a:r>
                      <a:r>
                        <a:rPr lang="en-US" sz="1800" b="0" i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$0.0075/10k requests)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665333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SSL Certificate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ACM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Free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74361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Cloudflare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Free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06901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363611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6CB881-5AD1-0915-E72F-27A49364C4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Infrastructure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877CCEA-ABE7-1E4D-E640-ACB075B3D7B3}"/>
              </a:ext>
            </a:extLst>
          </p:cNvPr>
          <p:cNvSpPr/>
          <p:nvPr/>
        </p:nvSpPr>
        <p:spPr>
          <a:xfrm>
            <a:off x="838200" y="2282825"/>
            <a:ext cx="1844566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GitHub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B52462F-A873-E1AC-F6E9-07D55228D110}"/>
              </a:ext>
            </a:extLst>
          </p:cNvPr>
          <p:cNvSpPr/>
          <p:nvPr/>
        </p:nvSpPr>
        <p:spPr>
          <a:xfrm>
            <a:off x="838200" y="4001294"/>
            <a:ext cx="1844566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Local (PC)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5C16067-71F0-C7C5-C7F8-55829BAB0CC5}"/>
              </a:ext>
            </a:extLst>
          </p:cNvPr>
          <p:cNvCxnSpPr>
            <a:stCxn id="5" idx="0"/>
            <a:endCxn id="4" idx="2"/>
          </p:cNvCxnSpPr>
          <p:nvPr/>
        </p:nvCxnSpPr>
        <p:spPr>
          <a:xfrm flipV="1">
            <a:off x="1760483" y="3197225"/>
            <a:ext cx="0" cy="80406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6868E1DE-2813-21B7-C506-FF7C4F61553F}"/>
              </a:ext>
            </a:extLst>
          </p:cNvPr>
          <p:cNvSpPr/>
          <p:nvPr/>
        </p:nvSpPr>
        <p:spPr>
          <a:xfrm>
            <a:off x="3898681" y="2282825"/>
            <a:ext cx="1844566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S3</a:t>
            </a:r>
            <a:br>
              <a:rPr lang="en-US" dirty="0"/>
            </a:br>
            <a:r>
              <a:rPr lang="en-US" dirty="0"/>
              <a:t>(storage)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B444565-9391-84B6-A804-07DEE296A5B8}"/>
              </a:ext>
            </a:extLst>
          </p:cNvPr>
          <p:cNvCxnSpPr>
            <a:cxnSpLocks/>
            <a:endCxn id="10" idx="1"/>
          </p:cNvCxnSpPr>
          <p:nvPr/>
        </p:nvCxnSpPr>
        <p:spPr>
          <a:xfrm>
            <a:off x="2682766" y="2740025"/>
            <a:ext cx="121591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A611CBCF-D1C9-491E-CE2F-5D7592F07365}"/>
              </a:ext>
            </a:extLst>
          </p:cNvPr>
          <p:cNvSpPr/>
          <p:nvPr/>
        </p:nvSpPr>
        <p:spPr>
          <a:xfrm>
            <a:off x="6703957" y="2282825"/>
            <a:ext cx="1844566" cy="9144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CloudFront</a:t>
            </a:r>
            <a:br>
              <a:rPr lang="en-US" dirty="0"/>
            </a:br>
            <a:r>
              <a:rPr lang="en-US" dirty="0"/>
              <a:t>(CDN)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6FE6D51-11D6-750C-2472-9E62E5A500DA}"/>
              </a:ext>
            </a:extLst>
          </p:cNvPr>
          <p:cNvCxnSpPr>
            <a:cxnSpLocks/>
            <a:stCxn id="10" idx="3"/>
            <a:endCxn id="13" idx="1"/>
          </p:cNvCxnSpPr>
          <p:nvPr/>
        </p:nvCxnSpPr>
        <p:spPr>
          <a:xfrm>
            <a:off x="5743247" y="2740025"/>
            <a:ext cx="96071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loud 17">
            <a:extLst>
              <a:ext uri="{FF2B5EF4-FFF2-40B4-BE49-F238E27FC236}">
                <a16:creationId xmlns:a16="http://schemas.microsoft.com/office/drawing/2014/main" id="{073D7955-A107-0CE1-E634-FF48D53B7580}"/>
              </a:ext>
            </a:extLst>
          </p:cNvPr>
          <p:cNvSpPr/>
          <p:nvPr/>
        </p:nvSpPr>
        <p:spPr>
          <a:xfrm>
            <a:off x="9509234" y="2282825"/>
            <a:ext cx="1686910" cy="914400"/>
          </a:xfrm>
          <a:prstGeom prst="cloud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Internet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F311E04C-BF2B-A297-90C1-52885CDAF6DB}"/>
              </a:ext>
            </a:extLst>
          </p:cNvPr>
          <p:cNvCxnSpPr>
            <a:stCxn id="13" idx="3"/>
            <a:endCxn id="18" idx="2"/>
          </p:cNvCxnSpPr>
          <p:nvPr/>
        </p:nvCxnSpPr>
        <p:spPr>
          <a:xfrm>
            <a:off x="8548523" y="2740025"/>
            <a:ext cx="96594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Rectangle 5">
            <a:extLst>
              <a:ext uri="{FF2B5EF4-FFF2-40B4-BE49-F238E27FC236}">
                <a16:creationId xmlns:a16="http://schemas.microsoft.com/office/drawing/2014/main" id="{ECB2E0C9-C838-4542-23AC-B117E1F90A33}"/>
              </a:ext>
            </a:extLst>
          </p:cNvPr>
          <p:cNvSpPr/>
          <p:nvPr/>
        </p:nvSpPr>
        <p:spPr>
          <a:xfrm>
            <a:off x="3421117" y="1970691"/>
            <a:ext cx="5565226" cy="203060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C03446-96F1-8DDE-8345-6C6AC57ACE3E}"/>
              </a:ext>
            </a:extLst>
          </p:cNvPr>
          <p:cNvSpPr txBox="1"/>
          <p:nvPr/>
        </p:nvSpPr>
        <p:spPr>
          <a:xfrm>
            <a:off x="5856889" y="3537745"/>
            <a:ext cx="6936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AWS</a:t>
            </a:r>
          </a:p>
        </p:txBody>
      </p:sp>
    </p:spTree>
    <p:extLst>
      <p:ext uri="{BB962C8B-B14F-4D97-AF65-F5344CB8AC3E}">
        <p14:creationId xmlns:p14="http://schemas.microsoft.com/office/powerpoint/2010/main" val="16523061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93AD8A-9083-F6A5-9E58-694415AA5D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Serverless?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A810E9-C32C-01F9-1BD9-A690A30633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server to manage</a:t>
            </a:r>
          </a:p>
          <a:p>
            <a:r>
              <a:rPr lang="en-US" dirty="0"/>
              <a:t>Consumption-based pricing</a:t>
            </a:r>
          </a:p>
          <a:p>
            <a:r>
              <a:rPr lang="en-US" dirty="0"/>
              <a:t>Scalable</a:t>
            </a:r>
          </a:p>
        </p:txBody>
      </p:sp>
    </p:spTree>
    <p:extLst>
      <p:ext uri="{BB962C8B-B14F-4D97-AF65-F5344CB8AC3E}">
        <p14:creationId xmlns:p14="http://schemas.microsoft.com/office/powerpoint/2010/main" val="34647325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D19408-5BF9-4994-E96F-0F50DEE4F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6B9800-0F06-4DD3-3DCF-471B561885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dirty="0"/>
              <a:t>Create Next.js app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Create Cloud Resources using </a:t>
            </a:r>
            <a:r>
              <a:rPr lang="en-US" dirty="0" err="1"/>
              <a:t>IaC</a:t>
            </a:r>
            <a:r>
              <a:rPr lang="en-US" dirty="0"/>
              <a:t> (infrastructure as a code) template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Deployment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4055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B61569A-A4F0-6657-4AB0-1BDB4E8A756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5EDF31-F064-8986-1563-26A1964287E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72352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83F8E5C0-DE83-A0B4-F503-58C3FBC624F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Thank you!</a:t>
            </a:r>
          </a:p>
        </p:txBody>
      </p:sp>
      <p:sp>
        <p:nvSpPr>
          <p:cNvPr id="9" name="Subtitle 8">
            <a:extLst>
              <a:ext uri="{FF2B5EF4-FFF2-40B4-BE49-F238E27FC236}">
                <a16:creationId xmlns:a16="http://schemas.microsoft.com/office/drawing/2014/main" id="{79C458A9-F913-F5AC-EC0E-BC8E87F405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0048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64109-B19D-772A-C2D5-8774C5428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FAQ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433331-D5C0-9D5F-82C0-CB2E0EF965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What happened when I accidentally launched expensive service?</a:t>
            </a:r>
          </a:p>
          <a:p>
            <a:pPr lvl="1"/>
            <a:r>
              <a:rPr lang="en-US" dirty="0"/>
              <a:t>Contact AWS support and they can provide refund</a:t>
            </a:r>
          </a:p>
          <a:p>
            <a:r>
              <a:rPr lang="en-US" dirty="0"/>
              <a:t>Is Cloud secured?</a:t>
            </a:r>
          </a:p>
          <a:p>
            <a:pPr lvl="1"/>
            <a:r>
              <a:rPr lang="en-US" dirty="0"/>
              <a:t>Yes, but part of it is our responsibility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70671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E284A-13CC-185F-9DD4-19F2718F59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691CEB-407B-C521-3D2F-87AB94AC0D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Website</a:t>
            </a:r>
            <a:r>
              <a:rPr lang="en-US" dirty="0"/>
              <a:t>: Next.js - SPA with SSG (Static Server Generation) capability</a:t>
            </a:r>
          </a:p>
          <a:p>
            <a:r>
              <a:rPr lang="en-US" b="1" dirty="0"/>
              <a:t>Source Control</a:t>
            </a:r>
            <a:r>
              <a:rPr lang="en-US" dirty="0"/>
              <a:t>: Git + GitHub</a:t>
            </a:r>
          </a:p>
          <a:p>
            <a:r>
              <a:rPr lang="en-US" b="1" dirty="0"/>
              <a:t>Deployment automation</a:t>
            </a:r>
            <a:r>
              <a:rPr lang="en-US" dirty="0"/>
              <a:t>: GitHub Actions</a:t>
            </a:r>
          </a:p>
          <a:p>
            <a:r>
              <a:rPr lang="en-US" b="1" dirty="0"/>
              <a:t>Hosting Infrastructure</a:t>
            </a:r>
            <a:r>
              <a:rPr lang="en-US" dirty="0"/>
              <a:t>: CloudFront + S3 (Serverless services in Cloud)</a:t>
            </a:r>
          </a:p>
          <a:p>
            <a:r>
              <a:rPr lang="en-US" b="1" dirty="0"/>
              <a:t>Supporting Infrastructure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SSL Certificate: ACM</a:t>
            </a:r>
          </a:p>
          <a:p>
            <a:pPr lvl="1"/>
            <a:r>
              <a:rPr lang="en-US" dirty="0"/>
              <a:t>DNS: Cloudflare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89669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64BE45-9299-DA37-495F-158AAA8F94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SPA?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57B84-2AB6-B5E4-8924-9DD28AE380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Easier to maintain than static files</a:t>
            </a:r>
          </a:p>
          <a:p>
            <a:r>
              <a:rPr lang="en-US" dirty="0"/>
              <a:t>Fast (run in client side)</a:t>
            </a:r>
          </a:p>
          <a:p>
            <a:r>
              <a:rPr lang="en-US" dirty="0"/>
              <a:t>Industry standard</a:t>
            </a:r>
          </a:p>
        </p:txBody>
      </p:sp>
    </p:spTree>
    <p:extLst>
      <p:ext uri="{BB962C8B-B14F-4D97-AF65-F5344CB8AC3E}">
        <p14:creationId xmlns:p14="http://schemas.microsoft.com/office/powerpoint/2010/main" val="114069958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871E5-9BC6-3C2D-0FD8-E1D16A8090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next.js?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219E05-AEB6-B09C-FBCC-B0575539CB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Support SSG</a:t>
            </a:r>
          </a:p>
          <a:p>
            <a:r>
              <a:rPr lang="en-US" dirty="0"/>
              <a:t>Folder based navigation/routing</a:t>
            </a:r>
          </a:p>
        </p:txBody>
      </p:sp>
    </p:spTree>
    <p:extLst>
      <p:ext uri="{BB962C8B-B14F-4D97-AF65-F5344CB8AC3E}">
        <p14:creationId xmlns:p14="http://schemas.microsoft.com/office/powerpoint/2010/main" val="9126189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C8A490-0820-3F5A-4A80-8C0314B836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Popular Options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972E4A-D548-288F-C54D-BCC815AA73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Cloud</a:t>
            </a:r>
          </a:p>
          <a:p>
            <a:pPr lvl="1"/>
            <a:r>
              <a:rPr lang="en-US" dirty="0"/>
              <a:t>AWS</a:t>
            </a:r>
          </a:p>
          <a:p>
            <a:pPr lvl="1"/>
            <a:r>
              <a:rPr lang="en-US" dirty="0"/>
              <a:t>Azure</a:t>
            </a:r>
          </a:p>
          <a:p>
            <a:pPr lvl="1"/>
            <a:r>
              <a:rPr lang="en-US" dirty="0"/>
              <a:t>GCP (Google Cloud Provider)</a:t>
            </a:r>
          </a:p>
          <a:p>
            <a:r>
              <a:rPr lang="en-US" dirty="0"/>
              <a:t>SPA</a:t>
            </a:r>
          </a:p>
          <a:p>
            <a:pPr lvl="1"/>
            <a:r>
              <a:rPr lang="en-US" dirty="0"/>
              <a:t>ReactJS, Next.js</a:t>
            </a:r>
          </a:p>
          <a:p>
            <a:pPr lvl="1"/>
            <a:r>
              <a:rPr lang="en-US" dirty="0"/>
              <a:t>Angular</a:t>
            </a:r>
          </a:p>
          <a:p>
            <a:pPr lvl="1"/>
            <a:r>
              <a:rPr lang="en-US" dirty="0"/>
              <a:t>Vue.js, Nuxt.js</a:t>
            </a:r>
          </a:p>
        </p:txBody>
      </p:sp>
    </p:spTree>
    <p:extLst>
      <p:ext uri="{BB962C8B-B14F-4D97-AF65-F5344CB8AC3E}">
        <p14:creationId xmlns:p14="http://schemas.microsoft.com/office/powerpoint/2010/main" val="408386322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323298-BA3C-4096-B752-DE122EEE05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if I need database?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3D82D3-900E-9C82-3CA4-1FA54DDA07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API Gateway + Lambda + DynamoDB</a:t>
            </a:r>
          </a:p>
        </p:txBody>
      </p:sp>
    </p:spTree>
    <p:extLst>
      <p:ext uri="{BB962C8B-B14F-4D97-AF65-F5344CB8AC3E}">
        <p14:creationId xmlns:p14="http://schemas.microsoft.com/office/powerpoint/2010/main" val="20789142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E9BF38-F472-5716-5FFA-48CAE1153E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WEb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A38916-5EA9-A841-22FB-89329874B2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GitHub</a:t>
            </a:r>
          </a:p>
          <a:p>
            <a:r>
              <a:rPr lang="en-US" dirty="0"/>
              <a:t>Cloudflare</a:t>
            </a:r>
          </a:p>
          <a:p>
            <a:r>
              <a:rPr lang="en-US" dirty="0"/>
              <a:t>AWS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79525413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TM10001114[[fn=Gallery]]</Template>
  <TotalTime>1553</TotalTime>
  <Words>384</Words>
  <Application>Microsoft Office PowerPoint</Application>
  <PresentationFormat>Widescreen</PresentationFormat>
  <Paragraphs>100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Gill Sans MT</vt:lpstr>
      <vt:lpstr>Gallery</vt:lpstr>
      <vt:lpstr>Hosting for Less</vt:lpstr>
      <vt:lpstr>Experience</vt:lpstr>
      <vt:lpstr>What is Cloud?</vt:lpstr>
      <vt:lpstr>NOT SO LONG TIME AGO</vt:lpstr>
      <vt:lpstr>Requirements</vt:lpstr>
      <vt:lpstr>TODAY</vt:lpstr>
      <vt:lpstr>MONTHLY PRICING</vt:lpstr>
      <vt:lpstr>Infrastructure</vt:lpstr>
      <vt:lpstr>Why Serverless?</vt:lpstr>
      <vt:lpstr>Demo</vt:lpstr>
      <vt:lpstr>Q&amp;A</vt:lpstr>
      <vt:lpstr>Thank you!</vt:lpstr>
      <vt:lpstr>FAQ</vt:lpstr>
      <vt:lpstr>Setup</vt:lpstr>
      <vt:lpstr>Why SPA?</vt:lpstr>
      <vt:lpstr>Why next.js?</vt:lpstr>
      <vt:lpstr>Popular Options</vt:lpstr>
      <vt:lpstr>What if I need database?</vt:lpstr>
      <vt:lpstr>WEb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Nikki Yodo</dc:creator>
  <cp:lastModifiedBy>Nikki Yodo</cp:lastModifiedBy>
  <cp:revision>25</cp:revision>
  <dcterms:created xsi:type="dcterms:W3CDTF">2025-11-05T16:31:24Z</dcterms:created>
  <dcterms:modified xsi:type="dcterms:W3CDTF">2025-11-10T18:03:18Z</dcterms:modified>
</cp:coreProperties>
</file>